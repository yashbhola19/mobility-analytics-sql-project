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D1D32"/>
          </a:solidFill>
          <a:ln>
            <a:solidFill>
              <a:srgbClr val="0D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CBDA"/>
                </a:solidFill>
                <a:latin typeface="Aptos"/>
              </a:defRPr>
            </a:pPr>
            <a:r>
              <a:t>SQL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F7FAFD"/>
                </a:solidFill>
                <a:latin typeface="Aptos"/>
              </a:defRPr>
            </a:pPr>
            <a:r>
              <a:t>Mobility</a:t>
            </a:r>
            <a:br/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DEE9"/>
                </a:solidFill>
                <a:latin typeface="Aptos"/>
              </a:defRPr>
            </a:pPr>
            <a:r>
              <a:t>A business-focused analysis of a mobility platform using MySQL and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30752"/>
            <a:ext cx="1965960" cy="64008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977639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AFD"/>
                </a:solidFill>
                <a:latin typeface="Aptos"/>
              </a:defRPr>
            </a:pPr>
            <a:r>
              <a:t>MySQL  •  SQL  • 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650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FAFD"/>
                </a:solidFill>
                <a:latin typeface="Aptos"/>
              </a:defRPr>
            </a:pPr>
            <a:r>
              <a:t>Yash Bhola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8932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EB3"/>
                </a:solidFill>
                <a:latin typeface="Aptos"/>
              </a:defRPr>
            </a:pPr>
            <a:r>
              <a:t>Data Analyst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What the project solves and why the analysis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43484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CBDA"/>
                </a:solidFill>
                <a:latin typeface="Aptos"/>
              </a:defRPr>
            </a:pPr>
            <a:r>
              <a:t>BUSINESS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4343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7FAFD"/>
                </a:solidFill>
                <a:latin typeface="Aptos"/>
              </a:defRPr>
            </a:pPr>
            <a:r>
              <a:t>Turn mobility transaction data into clear business insights.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DEE9"/>
                </a:solidFill>
                <a:latin typeface="Aptos"/>
              </a:defRPr>
            </a:pPr>
            <a:r>
              <a:t>The analysis evaluates customers, drivers, rides, revenue, vehicles, payments and promotions.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956048"/>
            <a:ext cx="1828800" cy="475488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50932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111F"/>
                </a:solidFill>
                <a:latin typeface="Aptos"/>
              </a:defRPr>
            </a:pPr>
            <a:r>
              <a:t>30 SQL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349240" cy="443484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057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CBDA"/>
                </a:solidFill>
                <a:latin typeface="Aptos"/>
              </a:defRPr>
            </a:pPr>
            <a:r>
              <a:t>PROJECT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60320"/>
            <a:ext cx="4526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D3DEE9"/>
                </a:solidFill>
                <a:latin typeface="Aptos"/>
              </a:defRPr>
            </a:pPr>
            <a:r>
              <a:t>• 8 relational tables</a:t>
            </a:r>
          </a:p>
          <a:p>
            <a:pPr>
              <a:spcAft>
                <a:spcPts val="1000"/>
              </a:spcAft>
              <a:defRPr sz="1700">
                <a:solidFill>
                  <a:srgbClr val="D3DEE9"/>
                </a:solidFill>
                <a:latin typeface="Aptos"/>
              </a:defRPr>
            </a:pPr>
            <a:r>
              <a:t>• 8 CSV data sources</a:t>
            </a:r>
          </a:p>
          <a:p>
            <a:pPr>
              <a:spcAft>
                <a:spcPts val="1000"/>
              </a:spcAft>
              <a:defRPr sz="1700">
                <a:solidFill>
                  <a:srgbClr val="D3DEE9"/>
                </a:solidFill>
                <a:latin typeface="Aptos"/>
              </a:defRPr>
            </a:pPr>
            <a:r>
              <a:t>• Easy, Moderate &amp; Advanced analysis</a:t>
            </a:r>
          </a:p>
          <a:p>
            <a:pPr>
              <a:spcAft>
                <a:spcPts val="1000"/>
              </a:spcAft>
              <a:defRPr sz="1700">
                <a:solidFill>
                  <a:srgbClr val="D3DEE9"/>
                </a:solidFill>
                <a:latin typeface="Aptos"/>
              </a:defRPr>
            </a:pPr>
            <a:r>
              <a:t>• Business questions answered with SQL</a:t>
            </a:r>
          </a:p>
          <a:p>
            <a:pPr>
              <a:spcAft>
                <a:spcPts val="1000"/>
              </a:spcAft>
              <a:defRPr sz="1700">
                <a:solidFill>
                  <a:srgbClr val="D3DEE9"/>
                </a:solidFill>
                <a:latin typeface="Aptos"/>
              </a:defRPr>
            </a:pPr>
            <a:r>
              <a:t>• Results interpreted as operational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02 /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Eight CSV files loaded into the mobility_analytics MySQL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cities.csv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City master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83080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93852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users.csv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9202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Customer profiles &amp; activity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43784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999232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drivers.csv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8094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Driver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43784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2999232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vehicles.csv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98094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Vehicle details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04487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059935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rides.csv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0416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Ride transactions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904487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4059935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payments.csv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0416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Payment transactions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65192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5120640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ratings_feedback.csv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10235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Ratings &amp; comments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965192"/>
            <a:ext cx="5303520" cy="804672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5120640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CBDA"/>
                </a:solidFill>
                <a:latin typeface="Aptos"/>
              </a:defRPr>
            </a:pPr>
            <a:r>
              <a:t>promotions.csv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10235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Campaigns &amp; discounts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9893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7FAFD"/>
                </a:solidFill>
                <a:latin typeface="Aptos"/>
              </a:defRPr>
            </a:pPr>
            <a:r>
              <a:t>CSV → MySQL tables → SQL queries → Business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03 /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Detailed Table Structure —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Key fields from the three most important operational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3657600" cy="443484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8013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6984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6456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478024"/>
            <a:ext cx="332841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user_id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6984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6456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6984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6456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Customer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signup_date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6984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6456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Signup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city_id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6984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6456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City 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device_type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6984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6456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wallet_balance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6984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6456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Wallet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6984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6456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User rating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is_active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6984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TINY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6456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Active flag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total_rides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6984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6456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Ride count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70248" y="1664208"/>
            <a:ext cx="3657600" cy="443484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18013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DRIVERS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4311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3784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2478024"/>
            <a:ext cx="332841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34840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driver_id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44311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3784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44311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3784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Driver name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city_id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4311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3784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City 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vehicle_id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4311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53784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Vehicle link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rating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44311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3784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Driver rating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total_rides_completed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44311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3784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34840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is_active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44311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TINY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53784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Active flag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4840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acceptance_rate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44311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53784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Acceptance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34840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cancellation_rate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44311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53784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Cancel 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37575" y="1664208"/>
            <a:ext cx="3657600" cy="4434840"/>
          </a:xfrm>
          <a:prstGeom prst="roundRect">
            <a:avLst/>
          </a:prstGeom>
          <a:solidFill>
            <a:srgbClr val="12263D"/>
          </a:solidFill>
          <a:ln>
            <a:solidFill>
              <a:srgbClr val="30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02167" y="18013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BE9D"/>
                </a:solidFill>
                <a:latin typeface="Aptos"/>
              </a:defRPr>
            </a:pPr>
            <a:r>
              <a:t>RIDES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2167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11639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1111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02167" y="2478024"/>
            <a:ext cx="332841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02167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ride_id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11639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21111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02167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user_id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1639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1111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User FK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02167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driver_id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11639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21111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Driver FK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02167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vehicle_id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11639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21111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Vehicle FK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02167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city_id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11639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1111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City FK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02167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pickup_time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11639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DATETIME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21111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Pickup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7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distance_km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11639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1111" y="4535424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02167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total_fare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11639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21111" y="4864608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Fare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02167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payment_mode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11639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21111" y="519379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02167" y="5522975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ride_status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11639" y="5522975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21111" y="5522975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03 /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Detailed Table Structure — Supporting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Reference, transaction and engagement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36192"/>
            <a:ext cx="3651506" cy="2249424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8013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857" y="221742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6984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6456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478024"/>
            <a:ext cx="332841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560320"/>
            <a:ext cx="99974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city_id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6984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6456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city_name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6984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6456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City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6984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6456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6984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6456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City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7" y="1664208"/>
            <a:ext cx="3721607" cy="2075688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18013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VEHICLES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4311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3784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478024"/>
            <a:ext cx="332841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vehicle_id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4311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3784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driver_id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4311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3784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Driver 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vehicle_type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4311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3784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make /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4311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3784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Vehicle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4311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3784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Model year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fuel_type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44311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3784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Fuel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37574" y="1664208"/>
            <a:ext cx="3721607" cy="2075688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02167" y="18013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7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11639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1111" y="2194560"/>
            <a:ext cx="106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02167" y="2478024"/>
            <a:ext cx="332841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02167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payment_id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1639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1111" y="256032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7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ride_id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1639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1111" y="2889503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Ride FK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7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11639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1111" y="3218687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7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payment_mode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11639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1111" y="3547872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2167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payment_status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11639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1111" y="3877056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02167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cashback_applied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1639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1111" y="4206240"/>
            <a:ext cx="106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Cashback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3840480"/>
            <a:ext cx="5593080" cy="2798064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7512" y="397764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RATINGS_FEEDBACK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" y="4370832"/>
            <a:ext cx="1688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01824" y="4370832"/>
            <a:ext cx="1688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36136" y="4370832"/>
            <a:ext cx="1688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512" y="4654296"/>
            <a:ext cx="520293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67512" y="473659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feedback_id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01824" y="473659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36136" y="473659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7512" y="5065776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ride_id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01824" y="5065776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36136" y="5065776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Ride FK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" y="5394960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user_rating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01824" y="5394960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36136" y="5394960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User rating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" y="5724144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driver_rating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01824" y="5724144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36136" y="5724144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Driver rating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7512" y="6053328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user_comment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01824" y="6053328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36136" y="6053328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Comment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" y="638251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feedback_tags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01824" y="638251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36136" y="638251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Tags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14872" y="3840480"/>
            <a:ext cx="5489447" cy="2779776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336792" y="397764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CBDA"/>
                </a:solidFill>
                <a:latin typeface="Aptos"/>
              </a:defRPr>
            </a:pPr>
            <a:r>
              <a:t>PROMOTIONS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36792" y="4370832"/>
            <a:ext cx="1688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71104" y="4370832"/>
            <a:ext cx="1688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05416" y="4370832"/>
            <a:ext cx="1688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36792" y="4654296"/>
            <a:ext cx="5202936" cy="13716"/>
          </a:xfrm>
          <a:prstGeom prst="rect">
            <a:avLst/>
          </a:prstGeom>
          <a:solidFill>
            <a:srgbClr val="34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336792" y="473659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coupon_id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71104" y="473659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05416" y="473659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36792" y="5065776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ride_id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71104" y="5065776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05416" y="5065776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Ride FK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36792" y="5394960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coupon_code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71104" y="5394960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05416" y="5394960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Coupon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36792" y="5724144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campaign_name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71104" y="5724144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05416" y="5724144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Campaign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36792" y="6053328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discount_type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71104" y="6053328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VARCHAR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05416" y="6053328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36792" y="638251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D3DEE9"/>
                </a:solidFill>
                <a:latin typeface="Aptos"/>
              </a:defRPr>
            </a:pPr>
            <a:r>
              <a:t>discount_amt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71104" y="638251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05416" y="6382512"/>
            <a:ext cx="1688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0">
                <a:solidFill>
                  <a:srgbClr val="D3DEE9"/>
                </a:solidFill>
                <a:latin typeface="Aptos"/>
              </a:defRPr>
            </a:pPr>
            <a:r>
              <a:t>Discount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7368" y="6620256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04 /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Steps used to build a clean and connected SQL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914400" cy="594360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739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11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600200"/>
            <a:ext cx="27432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17647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0CBDA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746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7FAFD"/>
                </a:solidFill>
                <a:latin typeface="Aptos"/>
              </a:defRPr>
            </a:pPr>
            <a:r>
              <a:t>LOAD DATA LOCAL INFILE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600200"/>
            <a:ext cx="64008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175564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Load CSV records into 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96312"/>
            <a:ext cx="914400" cy="594360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11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2496312"/>
            <a:ext cx="27432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26609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0CBDA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42616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7FAFD"/>
                </a:solidFill>
                <a:latin typeface="Aptos"/>
              </a:defRPr>
            </a:pPr>
            <a:r>
              <a:t>NULLIF()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496312"/>
            <a:ext cx="64008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8" y="265176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Convert blank values into NULL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92424"/>
            <a:ext cx="914400" cy="594360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11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392424"/>
            <a:ext cx="27432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3557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0CBDA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538728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7FAFD"/>
                </a:solidFill>
                <a:latin typeface="Aptos"/>
              </a:defRPr>
            </a:pPr>
            <a:r>
              <a:t>PRIMARY KEYS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3392424"/>
            <a:ext cx="64008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38928" y="354787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Uniquely identify each record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88536"/>
            <a:ext cx="914400" cy="594360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622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11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4288536"/>
            <a:ext cx="27432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57400" y="4453127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0CBDA"/>
                </a:solidFill>
                <a:latin typeface="Aptos"/>
              </a:defRPr>
            </a:pPr>
            <a:r>
              <a:t>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434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7FAFD"/>
                </a:solidFill>
                <a:latin typeface="Aptos"/>
              </a:defRPr>
            </a:pPr>
            <a:r>
              <a:t>FOREIGN KEYS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4288536"/>
            <a:ext cx="64008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38928" y="4443983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Connect related tables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84648"/>
            <a:ext cx="914400" cy="594360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3583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11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74519" y="5184648"/>
            <a:ext cx="27432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57400" y="53492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0CBD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3309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7FAFD"/>
                </a:solidFill>
                <a:latin typeface="Aptos"/>
              </a:defRPr>
            </a:pPr>
            <a:r>
              <a:t>SQL QUERIES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5184648"/>
            <a:ext cx="6400800" cy="5943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38928" y="534009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3DEE9"/>
                </a:solidFill>
                <a:latin typeface="Aptos"/>
              </a:defRPr>
            </a:pPr>
            <a:r>
              <a:t>Answer business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05 /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Analysis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30 questions organized by increasing analytical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828800" cy="777240"/>
          </a:xfrm>
          <a:prstGeom prst="roundRect">
            <a:avLst/>
          </a:prstGeom>
          <a:solidFill>
            <a:srgbClr val="18314C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7FAFD"/>
                </a:solidFill>
                <a:latin typeface="Aptos"/>
              </a:defRPr>
            </a:pPr>
            <a:r>
              <a:t>EASY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CBDA"/>
                </a:solidFill>
                <a:latin typeface="Aptos"/>
              </a:defRPr>
            </a:pPr>
            <a:r>
              <a:t>10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DEE9"/>
                </a:solidFill>
                <a:latin typeface="Aptos"/>
              </a:defRPr>
            </a:pPr>
            <a:r>
              <a:t>Counts • averages • revenue • payment modes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828800" cy="777240"/>
          </a:xfrm>
          <a:prstGeom prst="roundRect">
            <a:avLst/>
          </a:prstGeom>
          <a:solidFill>
            <a:srgbClr val="18314C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7FAFD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CBDA"/>
                </a:solidFill>
                <a:latin typeface="Aptos"/>
              </a:defRPr>
            </a:pPr>
            <a:r>
              <a:t>10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DEE9"/>
                </a:solidFill>
                <a:latin typeface="Aptos"/>
              </a:defRPr>
            </a:pPr>
            <a:r>
              <a:t>City comparisons • ratings • distance • top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828800" cy="777240"/>
          </a:xfrm>
          <a:prstGeom prst="roundRect">
            <a:avLst/>
          </a:prstGeom>
          <a:solidFill>
            <a:srgbClr val="41BE9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11F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34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CBDA"/>
                </a:solidFill>
                <a:latin typeface="Aptos"/>
              </a:defRPr>
            </a:pPr>
            <a:r>
              <a:t>10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DEE9"/>
                </a:solidFill>
                <a:latin typeface="Aptos"/>
              </a:defRPr>
            </a:pPr>
            <a:r>
              <a:t>Revenue thresholds • peak hour • spending • promotions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888736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7FAFD"/>
                </a:solidFill>
                <a:latin typeface="Aptos"/>
              </a:defRPr>
            </a:pPr>
            <a:r>
              <a:rPr dirty="0"/>
              <a:t>Core SQL concepts: SELECT • WHERE • JOIN • GROUP BY • HAVING • ORDER BY • LIMIT • Aggregate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06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Basic &amp; Moderate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Actual MySQL Workbench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5623560" cy="4526280"/>
          </a:xfrm>
          <a:prstGeom prst="roundRect">
            <a:avLst/>
          </a:prstGeom>
          <a:solidFill>
            <a:srgbClr val="EFF3F7"/>
          </a:solidFill>
          <a:ln>
            <a:solidFill>
              <a:srgbClr val="46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48db34a-fbd5-463f-b3ed-b5e94db253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026224"/>
            <a:ext cx="5477256" cy="17290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21792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CBDA"/>
                </a:solidFill>
                <a:latin typeface="Aptos"/>
              </a:defRPr>
            </a:pPr>
            <a:r>
              <a:t>Active users = 2,620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27632"/>
            <a:ext cx="5440680" cy="4526280"/>
          </a:xfrm>
          <a:prstGeom prst="roundRect">
            <a:avLst/>
          </a:prstGeom>
          <a:solidFill>
            <a:srgbClr val="EFF3F7"/>
          </a:solidFill>
          <a:ln>
            <a:solidFill>
              <a:srgbClr val="46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c9cdf8f-dfb2-4308-9c62-ba0b707d44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623829"/>
            <a:ext cx="5294376" cy="25338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621792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CBDA"/>
                </a:solidFill>
                <a:latin typeface="Aptos"/>
              </a:defRPr>
            </a:pPr>
            <a:r>
              <a:t>Device distribution: Android 1,504 | iOS 1,496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07 /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Advanced Result — City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Actual query output for cities above the ₹1,00,000 revenue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7315200" cy="4617720"/>
          </a:xfrm>
          <a:prstGeom prst="roundRect">
            <a:avLst/>
          </a:prstGeom>
          <a:solidFill>
            <a:srgbClr val="EFF3F7"/>
          </a:solidFill>
          <a:ln>
            <a:solidFill>
              <a:srgbClr val="46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1aff059-79da-4be0-b1c5-c4ac76c50c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97057"/>
            <a:ext cx="7168896" cy="38788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0936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CBDA"/>
                </a:solidFill>
                <a:latin typeface="Aptos"/>
              </a:defRPr>
            </a:pPr>
            <a:r>
              <a:t>Advanced Query #1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27632"/>
            <a:ext cx="3611880" cy="461772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CBDA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7FAFD"/>
                </a:solidFill>
                <a:latin typeface="Aptos"/>
              </a:defRPr>
            </a:pPr>
            <a:r>
              <a:t>HYD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41BE9D"/>
                </a:solidFill>
                <a:latin typeface="Aptos"/>
              </a:defRPr>
            </a:pPr>
            <a:r>
              <a:t>₹455,048.26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8862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DEE9"/>
                </a:solidFill>
                <a:latin typeface="Aptos"/>
              </a:defRPr>
            </a:pPr>
            <a:r>
              <a:t>Highest completed-ride revenue visible in the result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9194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EB3"/>
                </a:solidFill>
                <a:latin typeface="Aptos"/>
              </a:defRPr>
            </a:pPr>
            <a:r>
              <a:t>Uses WHERE + GROUP BY + HAVING + SUM()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08 /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Advanced Results — Customer &amp; Vehicle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Actual query outputs showing spending and fare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5623560" cy="4572000"/>
          </a:xfrm>
          <a:prstGeom prst="roundRect">
            <a:avLst/>
          </a:prstGeom>
          <a:solidFill>
            <a:srgbClr val="EFF3F7"/>
          </a:solidFill>
          <a:ln>
            <a:solidFill>
              <a:srgbClr val="46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a12eca-04cf-47c5-b375-0730a1744b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72156"/>
            <a:ext cx="5477256" cy="32829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26364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CBDA"/>
                </a:solidFill>
                <a:latin typeface="Aptos"/>
              </a:defRPr>
            </a:pPr>
            <a:r>
              <a:t>Advanced Query #6 — User spending on completed rides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27632"/>
            <a:ext cx="5440680" cy="4572000"/>
          </a:xfrm>
          <a:prstGeom prst="roundRect">
            <a:avLst/>
          </a:prstGeom>
          <a:solidFill>
            <a:srgbClr val="EFF3F7"/>
          </a:solidFill>
          <a:ln>
            <a:solidFill>
              <a:srgbClr val="46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218d843b-5def-410a-97be-7fc6b5056f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470100"/>
            <a:ext cx="5294376" cy="28870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626364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CBDA"/>
                </a:solidFill>
                <a:latin typeface="Aptos"/>
              </a:defRPr>
            </a:pPr>
            <a:r>
              <a:t>Advanced Query #8 — XL highest average fare: ₹162.37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CBDA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AFD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EB3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56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9EB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12263D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CBDA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54864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D3DEE9"/>
                </a:solidFill>
                <a:latin typeface="Aptos"/>
              </a:defRPr>
            </a:pPr>
            <a:r>
              <a:t>• Designed an 8-table relational mobility database</a:t>
            </a:r>
          </a:p>
          <a:p>
            <a:pPr>
              <a:spcAft>
                <a:spcPts val="1000"/>
              </a:spcAft>
              <a:defRPr sz="1600">
                <a:solidFill>
                  <a:srgbClr val="D3DEE9"/>
                </a:solidFill>
                <a:latin typeface="Aptos"/>
              </a:defRPr>
            </a:pPr>
            <a:r>
              <a:t>• Loaded and prepared eight CSV datasets</a:t>
            </a:r>
          </a:p>
          <a:p>
            <a:pPr>
              <a:spcAft>
                <a:spcPts val="1000"/>
              </a:spcAft>
              <a:defRPr sz="1600">
                <a:solidFill>
                  <a:srgbClr val="D3DEE9"/>
                </a:solidFill>
                <a:latin typeface="Aptos"/>
              </a:defRPr>
            </a:pPr>
            <a:r>
              <a:t>• Created 30 business-oriented SQL queries</a:t>
            </a:r>
          </a:p>
          <a:p>
            <a:pPr>
              <a:spcAft>
                <a:spcPts val="1000"/>
              </a:spcAft>
              <a:defRPr sz="1600">
                <a:solidFill>
                  <a:srgbClr val="D3DEE9"/>
                </a:solidFill>
                <a:latin typeface="Aptos"/>
              </a:defRPr>
            </a:pPr>
            <a:r>
              <a:t>• Analyzed users, drivers, rides, revenue, vehicles, payments and promotions</a:t>
            </a:r>
          </a:p>
          <a:p>
            <a:pPr>
              <a:spcAft>
                <a:spcPts val="1000"/>
              </a:spcAft>
              <a:defRPr sz="1600">
                <a:solidFill>
                  <a:srgbClr val="D3DEE9"/>
                </a:solidFill>
                <a:latin typeface="Aptos"/>
              </a:defRPr>
            </a:pPr>
            <a:r>
              <a:t>• Converted SQL outputs into business-focused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691640"/>
            <a:ext cx="4343400" cy="2057400"/>
          </a:xfrm>
          <a:prstGeom prst="roundRect">
            <a:avLst/>
          </a:prstGeom>
          <a:solidFill>
            <a:srgbClr val="18314C"/>
          </a:solidFill>
          <a:ln>
            <a:solidFill>
              <a:srgbClr val="344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62672" y="19933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CBD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51460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FAFD"/>
                </a:solidFill>
                <a:latin typeface="Aptos"/>
              </a:defRPr>
            </a:pPr>
            <a:r>
              <a:t>Power BI dashboard</a:t>
            </a:r>
            <a:br/>
            <a:r>
              <a:t>Python EDA</a:t>
            </a:r>
            <a:br/>
            <a:r>
              <a:t>Demand forecasting</a:t>
            </a:r>
            <a:br/>
            <a:r>
              <a:t>Customer segmentation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069080"/>
            <a:ext cx="4343400" cy="2103120"/>
          </a:xfrm>
          <a:prstGeom prst="roundRect">
            <a:avLst/>
          </a:prstGeom>
          <a:solidFill>
            <a:srgbClr val="41BE9D"/>
          </a:solidFill>
          <a:ln>
            <a:solidFill>
              <a:srgbClr val="41B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4843194"/>
            <a:ext cx="434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8111F"/>
                </a:solidFill>
                <a:latin typeface="Aptos"/>
              </a:defRPr>
            </a:pPr>
            <a:r>
              <a:rPr sz="3600" dirty="0"/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B9EB3"/>
                </a:solidFill>
                <a:latin typeface="Aptos"/>
              </a:defRPr>
            </a:pPr>
            <a:r>
              <a:t>MOBILITY ANALYTICS  |  SQL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55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9EB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928</Words>
  <Application>Microsoft Office PowerPoint</Application>
  <PresentationFormat>Widescreen</PresentationFormat>
  <Paragraphs>344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Bhola</cp:lastModifiedBy>
  <cp:revision>3</cp:revision>
  <dcterms:created xsi:type="dcterms:W3CDTF">2013-01-27T09:14:16Z</dcterms:created>
  <dcterms:modified xsi:type="dcterms:W3CDTF">2026-09-11T17:38:34Z</dcterms:modified>
  <cp:category/>
</cp:coreProperties>
</file>